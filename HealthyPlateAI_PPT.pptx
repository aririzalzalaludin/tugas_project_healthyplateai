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224E3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291840" cy="3291840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657600" cy="3657600"/>
          </a:xfrm>
          <a:prstGeom prst="ellipse">
            <a:avLst/>
          </a:prstGeom>
          <a:solidFill>
            <a:srgbClr val="224E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NUTRISI BERBASIS AI  •  GENERATIVE AI &amp; COMPUTER VISION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HealthyPlateAI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Nutrisi Makanan Otomatis dari Satu Foto — Google Gemini API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9" name="Image 0" descr="/home/claude/healthyplate/icon_camera_8FD7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531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846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57400" y="4343400"/>
            <a:ext cx="457200" cy="45720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12" name="Image 1" descr="/home/claude/healthyplate/icon_cpu_8FD7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44531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4846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474720" y="4343400"/>
            <a:ext cx="457200" cy="45720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15" name="Image 2" descr="/home/claude/healthyplate/icon_server_8FD7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44531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54680" y="4846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92040" y="4343400"/>
            <a:ext cx="457200" cy="45720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18" name="Image 3" descr="/home/claude/healthyplate/icon_database_8FD7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445312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4846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40080" y="5623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
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Rizal Zalaludin  (20240040042)
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Yuda Prasetya F  (20240040304)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949440" y="5623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Pengampu
</a:t>
            </a:r>
            <a:endParaRPr lang="en-US" sz="105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Ikhsan Thohir, M.Kom
</a:t>
            </a:r>
            <a:endParaRPr lang="en-US" sz="10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Nusa Putra —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Dibahas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" name="Image 0" descr="/home/claude/healthyplate/icon_target_2E7D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647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48840" y="172821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Rumusan Masalah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48840" y="207568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pencatatan gizi manual dan tujuan proyek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587752"/>
            <a:ext cx="10881360" cy="0"/>
          </a:xfrm>
          <a:prstGeom prst="line">
            <a:avLst/>
          </a:prstGeom>
          <a:noFill/>
          <a:ln w="12700">
            <a:solidFill>
              <a:srgbClr val="E6EF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1" name="Image 1" descr="/home/claude/healthyplate/icon_book_2E7D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163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609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148840" y="26243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 Pustaka &amp; Teknologi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148840" y="297180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API, Flask, SQLite, dan posisi HealthyPlateAI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483864"/>
            <a:ext cx="10881360" cy="0"/>
          </a:xfrm>
          <a:prstGeom prst="line">
            <a:avLst/>
          </a:prstGeom>
          <a:noFill/>
          <a:ln w="12700">
            <a:solidFill>
              <a:srgbClr val="E6EF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575304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2" descr="/home/claude/healthyplate/icon_layers_2E7D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1246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5570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2148840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&amp; Arsitektur Sistem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148840" y="386791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AI dan strategi prompt engineering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" y="4379976"/>
            <a:ext cx="10881360" cy="0"/>
          </a:xfrm>
          <a:prstGeom prst="line">
            <a:avLst/>
          </a:prstGeom>
          <a:noFill/>
          <a:ln w="12700">
            <a:solidFill>
              <a:srgbClr val="E6EF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47141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3" name="Image 3" descr="/home/claude/healthyplate/icon_check_2E7D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0857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4531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2148840" y="44165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Pengujian &amp; Pembahasan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2148840" y="4764024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 pada tiga fitur utama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5276088"/>
            <a:ext cx="10881360" cy="0"/>
          </a:xfrm>
          <a:prstGeom prst="line">
            <a:avLst/>
          </a:prstGeom>
          <a:noFill/>
          <a:ln w="12700">
            <a:solidFill>
              <a:srgbClr val="E6EFE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5367528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9" name="Image 4" descr="/home/claude/healthyplate/icon_trending_2E7D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0468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17320" y="5349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2148840" y="53126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2148840" y="5660136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proyek dan rencana pengembangan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— PENDAHULUAN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Masalah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Kesadaran akan pola makan sehat meningkat, namun pencatatan gizi manual dinilai tidak praktis, memakan waktu, dan mudah ditinggalkan — berpotensi memperbesar risiko obesitas, malnutrisi, dan penyakit metabolik.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B4332"/>
          </a:solidFill>
          <a:ln/>
        </p:spPr>
      </p:sp>
      <p:pic>
        <p:nvPicPr>
          <p:cNvPr id="6" name="Image 0" descr="/home/claude/healthyplate/icon_z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657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6393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yang Ditawarkan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20624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 memanfaatkan kemampuan multimodal (vision + text) dari Google Gemini API untuk mengubah proses pencatatan gizi yang rumit menjadi cukup satu kali unggah foto.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Tanpa Pemantauan Gizi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5166360" cy="1024128"/>
          </a:xfrm>
          <a:prstGeom prst="roundRect">
            <a:avLst>
              <a:gd name="adj" fmla="val 8929"/>
            </a:avLst>
          </a:prstGeom>
          <a:solidFill>
            <a:srgbClr val="D8F3DC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3682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healthyplate/icon_alert_FF6F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5054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76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52360" y="26426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Asupan kalori tak terpantau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46520" y="3383280"/>
            <a:ext cx="5166360" cy="1024128"/>
          </a:xfrm>
          <a:prstGeom prst="roundRect">
            <a:avLst>
              <a:gd name="adj" fmla="val 8929"/>
            </a:avLst>
          </a:prstGeom>
          <a:solidFill>
            <a:srgbClr val="D8F3DC"/>
          </a:solidFill>
          <a:ln/>
        </p:spPr>
      </p:sp>
      <p:sp>
        <p:nvSpPr>
          <p:cNvPr id="16" name="Shape 12"/>
          <p:cNvSpPr/>
          <p:nvPr/>
        </p:nvSpPr>
        <p:spPr>
          <a:xfrm>
            <a:off x="6675120" y="36027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healthyplate/icon_alert_FF6F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7398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60" y="35112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Malnutrisi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452360" y="38770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 gizi tak disadari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46520" y="4617720"/>
            <a:ext cx="5166360" cy="1024128"/>
          </a:xfrm>
          <a:prstGeom prst="roundRect">
            <a:avLst>
              <a:gd name="adj" fmla="val 8929"/>
            </a:avLst>
          </a:prstGeom>
          <a:solidFill>
            <a:srgbClr val="D8F3DC"/>
          </a:solidFill>
          <a:ln/>
        </p:spPr>
      </p:sp>
      <p:sp>
        <p:nvSpPr>
          <p:cNvPr id="21" name="Shape 16"/>
          <p:cNvSpPr/>
          <p:nvPr/>
        </p:nvSpPr>
        <p:spPr>
          <a:xfrm>
            <a:off x="6675120" y="48371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healthyplate/icon_alert_FF6F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9743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7457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Penyakit Metabolik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52360" y="5111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jangka panjang pola makan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— PENDAHULUAN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 Proyek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5681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mengenali jenis makanan otomatis hanya dari citra foto?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3405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mengestimasi kalori, karbohidrat, protein, lemak tanpa input manual?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1129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menyajikan hasil analisis yang mudah dipahami secara cepat &amp; andal?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0" cy="4617720"/>
          </a:xfrm>
          <a:prstGeom prst="line">
            <a:avLst/>
          </a:prstGeom>
          <a:noFill/>
          <a:ln w="19050">
            <a:solidFill>
              <a:srgbClr val="E6E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PROYEK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057400"/>
            <a:ext cx="475488" cy="47548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7" name="Image 0" descr="/home/claude/healthyplate/icon_eye_FF6F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2176272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59168" y="202996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analisis gizi otomatis via Generative AI &amp; Computer Vision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0" y="3108960"/>
            <a:ext cx="475488" cy="47548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0" name="Image 1" descr="/home/claude/healthyplate/icon_cpu_FF6F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322783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59168" y="308152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Google Gemini API sebagai mesin inferensi multimodal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00800" y="4160520"/>
            <a:ext cx="475488" cy="47548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3" name="Image 2" descr="/home/claude/healthyplate/icon_activity_FF6F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4279392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59168" y="413308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rekomendasi diet kontekstual &amp; personal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0" y="5212080"/>
            <a:ext cx="475488" cy="47548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6" name="Image 3" descr="/home/claude/healthyplate/icon_check_FF6F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533095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59168" y="518464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keandalan sistem di lingkungan cloud nyata (PythonAnywhere)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— TINJAUAN PUSTAKA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Teknologi yang Digunakan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healthyplate/icon_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API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multimodal (vision + text) via pustaka google-genai; memahami gambar &amp; menghasilkan teks terstruktur.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05740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healthyplate/icon_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40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17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Framework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17720" y="36118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Micro-framework Python yang ringan &amp; fleksibel untuk routing, sesi, dan integrasi API pihak ketiga.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057400"/>
            <a:ext cx="777240" cy="777240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16" name="Image 2" descr="/home/claude/healthyplate/icon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2402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17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12480" y="36118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relasional ringan tanpa server terpisah, untuk akun pengguna &amp; riwayat analisis.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— TINJAUAN PUSTAKA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HealthyPlateAI vs. Aplikasi Konvensional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24E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 Kalori Konvensional</a:t>
            </a:r>
            <a:endParaRPr lang="en-US" sz="1500" dirty="0"/>
          </a:p>
        </p:txBody>
      </p:sp>
      <p:pic>
        <p:nvPicPr>
          <p:cNvPr id="6" name="Image 0" descr="/home/claude/healthyplate/icon_alert_FF6F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43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6883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CRUD statis</a:t>
            </a:r>
            <a:endParaRPr lang="en-US" sz="1250" dirty="0"/>
          </a:p>
        </p:txBody>
      </p:sp>
      <p:pic>
        <p:nvPicPr>
          <p:cNvPr id="8" name="Image 1" descr="/home/claude/healthyplate/icon_alert_FF6F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3741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basis data nutrisi tetap</a:t>
            </a:r>
            <a:endParaRPr lang="en-US" sz="1250" dirty="0"/>
          </a:p>
        </p:txBody>
      </p:sp>
      <p:pic>
        <p:nvPicPr>
          <p:cNvPr id="10" name="Image 2" descr="/home/claude/healthyplate/icon_alert_FF6F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40599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manual berat &amp; jenis makanan</a:t>
            </a:r>
            <a:endParaRPr lang="en-US" sz="1250" dirty="0"/>
          </a:p>
        </p:txBody>
      </p:sp>
      <p:pic>
        <p:nvPicPr>
          <p:cNvPr id="12" name="Image 3" descr="/home/claude/healthyplate/icon_alert_FF6F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0060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47457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tak sesuai hidangan lokal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12648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6F3C"/>
          </a:solidFill>
          <a:ln/>
        </p:spPr>
      </p:sp>
      <p:sp>
        <p:nvSpPr>
          <p:cNvPr id="15" name="Text 9"/>
          <p:cNvSpPr/>
          <p:nvPr/>
        </p:nvSpPr>
        <p:spPr>
          <a:xfrm>
            <a:off x="649224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1500" dirty="0"/>
          </a:p>
        </p:txBody>
      </p:sp>
      <p:pic>
        <p:nvPicPr>
          <p:cNvPr id="16" name="Image 4" descr="/home/claude/healthyplate/icon_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7432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49440" y="26883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Pemrosesan kognitif berbasis AI</a:t>
            </a:r>
            <a:endParaRPr lang="en-US" sz="1250" dirty="0"/>
          </a:p>
        </p:txBody>
      </p:sp>
      <p:pic>
        <p:nvPicPr>
          <p:cNvPr id="18" name="Image 5" descr="/home/claude/healthyplate/icon_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42900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49440" y="33741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hidangan dari foto langsung</a:t>
            </a:r>
            <a:endParaRPr lang="en-US" sz="1250" dirty="0"/>
          </a:p>
        </p:txBody>
      </p:sp>
      <p:pic>
        <p:nvPicPr>
          <p:cNvPr id="20" name="Image 6" descr="/home/claude/healthyplate/icon_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11480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49440" y="40599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otomatis tanpa input manual</a:t>
            </a:r>
            <a:endParaRPr lang="en-US" sz="1250" dirty="0"/>
          </a:p>
        </p:txBody>
      </p:sp>
      <p:pic>
        <p:nvPicPr>
          <p:cNvPr id="22" name="Image 7" descr="/home/claude/healthyplate/icon_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800600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47457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kesehatan kontekstual &amp; adaptif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— METODOLOGI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Sistem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client-server: browser pengguna berinteraksi dengan server Flask, yang berkomunikasi dengan Google Gemini API dan basis data SQLite.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6EFE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83464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/home/claude/healthyplate/icon_smart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30083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7490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4206240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Mengunggah foto &amp;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hasil analisis</a:t>
            </a:r>
            <a:endParaRPr lang="en-US" sz="1000" dirty="0"/>
          </a:p>
        </p:txBody>
      </p:sp>
      <p:pic>
        <p:nvPicPr>
          <p:cNvPr id="10" name="Image 1" descr="/home/claude/healthyplate/icon_arrowright_2E7D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3538728"/>
            <a:ext cx="347472" cy="347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20440" y="25146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6EFE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43400" y="283464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2" descr="/home/claude/healthyplate/icon_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30083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30168" y="37490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630168" y="4206240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Autentikasi, routing &amp;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API</a:t>
            </a:r>
            <a:endParaRPr lang="en-US" sz="1000" dirty="0"/>
          </a:p>
        </p:txBody>
      </p:sp>
      <p:pic>
        <p:nvPicPr>
          <p:cNvPr id="16" name="Image 3" descr="/home/claude/healthyplate/icon_arrowright_2E7D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538728"/>
            <a:ext cx="347472" cy="3474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25146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6EFE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23760" y="2834640"/>
            <a:ext cx="731520" cy="731520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19" name="Image 4" descr="/home/claude/healthyplate/icon_cpu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3008376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10528" y="37490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510528" y="4206240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 visual &amp;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nutrisi</a:t>
            </a:r>
            <a:endParaRPr lang="en-US" sz="1000" dirty="0"/>
          </a:p>
        </p:txBody>
      </p:sp>
      <p:pic>
        <p:nvPicPr>
          <p:cNvPr id="22" name="Image 5" descr="/home/claude/healthyplate/icon_arrowright_2E7D3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538728"/>
            <a:ext cx="347472" cy="34747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281160" y="25146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6EFE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104120" y="283464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5" name="Image 6" descr="/home/claude/healthyplate/icon_databas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856" y="3008376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390888" y="37490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390888" y="4206240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pengguna &amp;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analisis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— METODOLOGI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Sistem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1914" cy="3794760"/>
          </a:xfrm>
          <a:prstGeom prst="roundRect">
            <a:avLst>
              <a:gd name="adj" fmla="val 4456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84832"/>
            <a:ext cx="17775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8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63701" y="26974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healthyplate/icon_upload_1B43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005" y="28437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520440"/>
            <a:ext cx="18324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Citra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6656" y="4206240"/>
            <a:ext cx="17958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mengunggah gambar via endpoint /upload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01722" y="1920240"/>
            <a:ext cx="2051914" cy="3794760"/>
          </a:xfrm>
          <a:prstGeom prst="roundRect">
            <a:avLst>
              <a:gd name="adj" fmla="val 4456"/>
            </a:avLst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2938882" y="2084832"/>
            <a:ext cx="17775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8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516782" y="26974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healthyplate/icon_layers_2E7D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284378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3520440"/>
            <a:ext cx="18324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Pemrosesan Memori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29738" y="4206240"/>
            <a:ext cx="17958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gambar diproses in-memory, tanpa membebani disk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54803" y="1920240"/>
            <a:ext cx="2051914" cy="3794760"/>
          </a:xfrm>
          <a:prstGeom prst="roundRect">
            <a:avLst>
              <a:gd name="adj" fmla="val 4456"/>
            </a:avLst>
          </a:prstGeom>
          <a:solidFill>
            <a:srgbClr val="1B4332"/>
          </a:solidFill>
          <a:ln/>
        </p:spPr>
      </p:sp>
      <p:sp>
        <p:nvSpPr>
          <p:cNvPr id="17" name="Text 13"/>
          <p:cNvSpPr/>
          <p:nvPr/>
        </p:nvSpPr>
        <p:spPr>
          <a:xfrm>
            <a:off x="5191963" y="2084832"/>
            <a:ext cx="17775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8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769864" y="26974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healthyplate/icon_cpu_1B43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84378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4531" y="3520440"/>
            <a:ext cx="18324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 Multimodal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182819" y="4206240"/>
            <a:ext cx="17958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Dikirim ke Gemini dengan prompt terstruktur untuk segmentasi &amp; ekstraksi gizi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307885" y="1920240"/>
            <a:ext cx="2051914" cy="3794760"/>
          </a:xfrm>
          <a:prstGeom prst="roundRect">
            <a:avLst>
              <a:gd name="adj" fmla="val 4456"/>
            </a:avLst>
          </a:prstGeom>
          <a:solidFill>
            <a:srgbClr val="2E7D32"/>
          </a:solidFill>
          <a:ln/>
        </p:spPr>
      </p:sp>
      <p:sp>
        <p:nvSpPr>
          <p:cNvPr id="23" name="Text 18"/>
          <p:cNvSpPr/>
          <p:nvPr/>
        </p:nvSpPr>
        <p:spPr>
          <a:xfrm>
            <a:off x="7445045" y="2084832"/>
            <a:ext cx="17775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8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8022946" y="26974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/home/claude/healthyplate/icon_activity_2E7D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250" y="284378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17613" y="3520440"/>
            <a:ext cx="18324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Generatif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435901" y="4206240"/>
            <a:ext cx="17958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kalori, makronutrien &amp; penilaian kelayakan diet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560966" y="1920240"/>
            <a:ext cx="2051914" cy="3794760"/>
          </a:xfrm>
          <a:prstGeom prst="roundRect">
            <a:avLst>
              <a:gd name="adj" fmla="val 4456"/>
            </a:avLst>
          </a:prstGeom>
          <a:solidFill>
            <a:srgbClr val="1B4332"/>
          </a:solidFill>
          <a:ln/>
        </p:spPr>
      </p:sp>
      <p:sp>
        <p:nvSpPr>
          <p:cNvPr id="29" name="Text 23"/>
          <p:cNvSpPr/>
          <p:nvPr/>
        </p:nvSpPr>
        <p:spPr>
          <a:xfrm>
            <a:off x="9698126" y="2084832"/>
            <a:ext cx="17775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8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10276027" y="26974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/home/claude/healthyplate/icon_check_1B43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2331" y="284378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70694" y="3520440"/>
            <a:ext cx="18324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&amp; Presentasi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688982" y="4206240"/>
            <a:ext cx="17958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disimpan &amp; ditampilkan sebagai kartu ringkasan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— METODOLOGI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Prompt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ke model Gemini dirancang secara terstruktur agar keluaran konsisten dan mudah diparsing sistem, sehingga hasil dapat langsung dipetakan ke komponen antarmuka.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822960" cy="82296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home/claude/healthyplate/icon_message_2E7D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32918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 mencakup format keluaran: nama hidangan, estimasi berat, kalori, makronutrien, dan catatan kesehatan.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STRUKTUR OUTPUT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3017520"/>
            <a:ext cx="4480560" cy="0"/>
          </a:xfrm>
          <a:prstGeom prst="line">
            <a:avLst/>
          </a:prstGeom>
          <a:noFill/>
          <a:ln w="12700">
            <a:solidFill>
              <a:srgbClr val="2E5F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4688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Hidangan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0" y="2724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 Goreng Ayam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766560" y="3730752"/>
            <a:ext cx="4480560" cy="0"/>
          </a:xfrm>
          <a:prstGeom prst="line">
            <a:avLst/>
          </a:prstGeom>
          <a:noFill/>
          <a:ln w="12700">
            <a:solidFill>
              <a:srgbClr val="2E5F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318211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Berat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0" y="34381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 gram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766560" y="4443984"/>
            <a:ext cx="4480560" cy="0"/>
          </a:xfrm>
          <a:prstGeom prst="line">
            <a:avLst/>
          </a:prstGeom>
          <a:noFill/>
          <a:ln w="12700">
            <a:solidFill>
              <a:srgbClr val="2E5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89534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Kalori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6560" y="41513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kkal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766560" y="5157216"/>
            <a:ext cx="4480560" cy="0"/>
          </a:xfrm>
          <a:prstGeom prst="line">
            <a:avLst/>
          </a:prstGeom>
          <a:noFill/>
          <a:ln w="12700">
            <a:solidFill>
              <a:srgbClr val="2E5F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460857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Karbohidrat / Protein / Lemak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6560" y="4864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68g / 22g / 16g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766560" y="5870448"/>
            <a:ext cx="4480560" cy="0"/>
          </a:xfrm>
          <a:prstGeom prst="line">
            <a:avLst/>
          </a:prstGeom>
          <a:noFill/>
          <a:ln w="12700">
            <a:solidFill>
              <a:srgbClr val="2E5F4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32180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Kesehatan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766560" y="5577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 natrium — imbangi dengan sayur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— METODOLOGI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Teknis Sistem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576072"/>
          </a:xfrm>
          <a:prstGeom prst="rect">
            <a:avLst/>
          </a:prstGeom>
          <a:solidFill>
            <a:srgbClr val="F0F7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0" y="1737360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 3.10)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313432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(multimodal) via pustaka google-genai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10881360" cy="576072"/>
          </a:xfrm>
          <a:prstGeom prst="rect">
            <a:avLst/>
          </a:prstGeom>
          <a:solidFill>
            <a:srgbClr val="F0F7F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9504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2889504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65576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3465576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akun pengguna &amp; riwayat analisis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10881360" cy="576072"/>
          </a:xfrm>
          <a:prstGeom prst="rect">
            <a:avLst/>
          </a:prstGeom>
          <a:solidFill>
            <a:srgbClr val="F0F7F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41648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4041648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 (myenv), Python 3.10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4617720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via konfigurasi WSGI daemon khusus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0881360" cy="576072"/>
          </a:xfrm>
          <a:prstGeom prst="rect">
            <a:avLst/>
          </a:prstGeom>
          <a:solidFill>
            <a:srgbClr val="F0F7F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193792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0" y="5193792"/>
            <a:ext cx="7315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— Flask Jinja2 templates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1737360"/>
            <a:ext cx="0" cy="4032504"/>
          </a:xfrm>
          <a:prstGeom prst="line">
            <a:avLst/>
          </a:prstGeom>
          <a:noFill/>
          <a:ln w="19050">
            <a:solidFill>
              <a:srgbClr val="CFE9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HASIL &amp; PEMBAHASAN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Pengujian Black-Box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fungsionalitas terhadap tiga fitur utama menunjukkan tingkat keberhasilan 100% di lingkungan produksi cloud.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/home/claude/healthyplate/icon_us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694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Pengguna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67588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kredensial &amp; arahkan ke dashboard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617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SUKSES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2423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1" descr="/home/claude/healthyplate/icon_uploa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56946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200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Foto Makanan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617720" y="367588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file in-memory tanpa hambatan akses disk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17720" y="461772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18" name="Text 14"/>
          <p:cNvSpPr/>
          <p:nvPr/>
        </p:nvSpPr>
        <p:spPr>
          <a:xfrm>
            <a:off x="4617720" y="4617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SUKSES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214884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2480" y="2423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1" name="Image 2" descr="/home/claude/healthyplate/icon_cpu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56946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200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Nutrisi AI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412480" y="367588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rincian kalori, protein, karbo, lemak &amp; saran diet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412480" y="461772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20"/>
          <p:cNvSpPr/>
          <p:nvPr/>
        </p:nvSpPr>
        <p:spPr>
          <a:xfrm>
            <a:off x="8412480" y="4617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SUKSES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646920" y="3246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27" name="Text 22"/>
          <p:cNvSpPr/>
          <p:nvPr/>
        </p:nvSpPr>
        <p:spPr>
          <a:xfrm>
            <a:off x="9509760" y="4160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KEBERHASILAN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FITUR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HASIL &amp; PEMBAHASAN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 &amp; Keterbatasan Sistem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D8F3D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healthyplate/icon_tren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848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</a:t>
            </a:r>
            <a:endParaRPr lang="en-US" sz="1800" dirty="0"/>
          </a:p>
        </p:txBody>
      </p:sp>
      <p:pic>
        <p:nvPicPr>
          <p:cNvPr id="8" name="Image 1" descr="/home/claude/healthyplate/icon_check_2E7D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1576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instan tanpa input manual — cukup satu foto</a:t>
            </a:r>
            <a:endParaRPr lang="en-US" sz="1200" dirty="0"/>
          </a:p>
        </p:txBody>
      </p:sp>
      <p:pic>
        <p:nvPicPr>
          <p:cNvPr id="10" name="Image 2" descr="/home/claude/healthyplate/icon_check_2E7D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72160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makronutrien berbasis penalaran visual AI</a:t>
            </a:r>
            <a:endParaRPr lang="en-US" sz="1200" dirty="0"/>
          </a:p>
        </p:txBody>
      </p:sp>
      <p:pic>
        <p:nvPicPr>
          <p:cNvPr id="12" name="Image 3" descr="/home/claude/healthyplate/icon_check_2E7D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7274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ringan berbasis pemrosesan in-memory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1EB"/>
          </a:solidFill>
          <a:ln/>
        </p:spPr>
      </p:sp>
      <p:sp>
        <p:nvSpPr>
          <p:cNvPr id="15" name="Shape 9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16" name="Image 4" descr="/home/claude/healthyplate/icon_ale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13969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23760" y="20848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45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</a:t>
            </a:r>
            <a:endParaRPr lang="en-US" sz="1800" dirty="0"/>
          </a:p>
        </p:txBody>
      </p:sp>
      <p:pic>
        <p:nvPicPr>
          <p:cNvPr id="18" name="Image 5" descr="/home/claude/healthyplate/icon_alert_FF6F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78892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49440" y="271576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porsi tergantung sudut foto &amp; pencahayaan</a:t>
            </a:r>
            <a:endParaRPr lang="en-US" sz="1200" dirty="0"/>
          </a:p>
        </p:txBody>
      </p:sp>
      <p:pic>
        <p:nvPicPr>
          <p:cNvPr id="20" name="Image 6" descr="/home/claude/healthyplate/icon_alert_FF6F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79476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49440" y="372160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validasi silang ke basis data nutrisi resmi</a:t>
            </a:r>
            <a:endParaRPr lang="en-US" sz="1200" dirty="0"/>
          </a:p>
        </p:txBody>
      </p:sp>
      <p:pic>
        <p:nvPicPr>
          <p:cNvPr id="22" name="Image 7" descr="/home/claude/healthyplate/icon_alert_FF6F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8006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47274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ketersediaan &amp; latensi Gemini API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— KESIMPULAN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5" name="Image 0" descr="/home/claude/healthyplate/icon_camera_8FD7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1109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28216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 berhasil menganalisis kandungan gizi otomatis hanya melalui satu foto, memanfaatkan kemampuan multimodal Gemini API.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98648"/>
            <a:ext cx="548640" cy="54864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8" name="Image 1" descr="/home/claude/healthyplate/icon_zap_8FD7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2666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43784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pemrosesan gambar in-memory terbukti efisien, cocok untuk hosting dengan sumber daya terbatas.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11" name="Image 2" descr="/home/claude/healthyplate/icon_check_8FD7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14223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959352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black-box menunjukkan keberhasilan 100% pada seluruh fitur utama, membuktikan stabilitas integrasi sistem.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5129784"/>
            <a:ext cx="548640" cy="54864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14" name="Image 3" descr="/home/claude/healthyplate/icon_trending_8FD7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2578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50749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Generative AI &amp; Computer Vision jauh lebih praktis dibanding pencatatan nutrisi konvensional berbasis CRUD statis.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— SARAN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Pengembangan Lanjutan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6" name="Image 0" descr="/home/claude/healthyplate/icon_activ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Pelacakan Target Kalori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3136392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tren konsumsi mingguan/bulanan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039112"/>
            <a:ext cx="566928" cy="566928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11" name="Image 1" descr="/home/claude/healthyplate/icon_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762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4320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Estimasi Porsi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99432" y="3136392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objek pembanding, mis. ukuran piring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2039112"/>
            <a:ext cx="566928" cy="566928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16" name="Image 2" descr="/home/claude/healthyplate/icon_smartpho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1762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74320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94192" y="3136392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Android/iOS untuk kemudahan akses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21" name="Image 3" descr="/home/claude/healthyplate/icon_boo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708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377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Resep Sehat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04672" y="5330952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sisa kebutuhan kalori harian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AF6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33672"/>
            <a:ext cx="566928" cy="566928"/>
          </a:xfrm>
          <a:prstGeom prst="ellipse">
            <a:avLst/>
          </a:prstGeom>
          <a:solidFill>
            <a:srgbClr val="FF6F3C"/>
          </a:solidFill>
          <a:ln/>
        </p:spPr>
      </p:sp>
      <p:pic>
        <p:nvPicPr>
          <p:cNvPr id="26" name="Image 4" descr="/home/claude/healthyplate/icon_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7083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377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Silang Data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99432" y="5330952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AI ke basis data nutrisi resmi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224E3B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657600" cy="3657600"/>
          </a:xfrm>
          <a:prstGeom prst="ellipse">
            <a:avLst/>
          </a:prstGeom>
          <a:solidFill>
            <a:srgbClr val="224E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 — mengubah satu foto menjadi wawasan gizi yang lengkap.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7" name="Image 0" descr="/home/claude/healthyplate/icon_globe_8FD7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9651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9410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Live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419709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HealthyPlateAI.pythonanywhere.com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24583F"/>
          </a:solidFill>
          <a:ln/>
        </p:spPr>
      </p:sp>
      <p:pic>
        <p:nvPicPr>
          <p:cNvPr id="11" name="Image 1" descr="/home/claude/healthyplate/icon_code_8FD7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9651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8097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Kode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325880" y="506577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github.com/ARIRIZALZALALUDIN/Tugas_Project_HealthyPlateAI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HealthyPlateAI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2026-07-13T03:43:38Z</dcterms:created>
  <dcterms:modified xsi:type="dcterms:W3CDTF">2026-07-13T03:43:38Z</dcterms:modified>
</cp:coreProperties>
</file>